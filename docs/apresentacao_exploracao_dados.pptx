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7.png" ContentType="image/png"/>
  <Override PartName="/ppt/media/image1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.jpeg" ContentType="image/jpeg"/>
  <Override PartName="/ppt/media/image10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2.jpeg" ContentType="image/jpeg"/>
  <Override PartName="/ppt/media/image5.png" ContentType="image/png"/>
  <Override PartName="/ppt/media/image26.jpeg" ContentType="image/jpeg"/>
  <Override PartName="/ppt/media/image1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24C47D-219E-4795-9A82-22806F50AE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E4D64A-398F-402C-82A0-A0F0E3E3DC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77AAF9-E8E1-4B16-B084-5D07927EC0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4834968-9489-43CB-8218-A89C99C0A8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8676615-794C-4A70-AA8A-6EF259A3DB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2287CCD-1997-405A-B802-1239A8E161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DB66384-0921-4FBF-BAED-817CE65D3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8B6483D-7DE2-48EE-AFBF-A795CD81EB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952813A-BB91-47FA-B46C-AF7F8F4F32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F2D54D0-6668-4BE9-885C-4731402633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8C4B9F7-17CD-43D6-A206-043D16C648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252318-8F97-48F3-BA7F-755F034E9EE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51C241-E8E7-43CE-A439-6B1DDC4CC461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1DD524-2CC6-45CE-8700-220B3EB36A3A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97E611-FF26-481B-8FF9-6417F57D451F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4A43F2-EBAF-45A6-B15E-C7A6AFB7826B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682F0D-CCAA-4D66-9241-8798D715B884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EFDC6-1406-496E-922F-83FF3178C58C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C8918A-6CC0-40BA-B85E-466F32AEECD0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5ADF13-5633-4B77-B6E1-A343B68E086E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20E0CC-4D62-4D01-8501-9A165287764B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FEC412-D768-41F9-8237-994CEDFB0FA2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2390760"/>
            <a:ext cx="9143280" cy="93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400" spc="-1" strike="noStrike">
                <a:solidFill>
                  <a:schemeClr val="dk1"/>
                </a:solidFill>
                <a:latin typeface="Calibri Light"/>
              </a:rPr>
              <a:t>Exploração dos dados de PDN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1900" spc="-1" strike="noStrike">
                <a:solidFill>
                  <a:schemeClr val="dk1"/>
                </a:solidFill>
                <a:latin typeface="Calibri Light"/>
              </a:rPr>
              <a:t>SI/PI-Database — o que foi estudado até aqui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576600" y="3714840"/>
            <a:ext cx="5037840" cy="106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chemeClr val="dk1"/>
                </a:solidFill>
                <a:latin typeface="Calibri"/>
              </a:rPr>
              <a:t>André Victor Xavier Pires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Trabalho de Conclusão de Curso 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Engenharia Elétrica — GRR20212735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ubtítulo 4"/>
          <p:cNvSpPr/>
          <p:nvPr/>
        </p:nvSpPr>
        <p:spPr>
          <a:xfrm>
            <a:off x="3212280" y="671400"/>
            <a:ext cx="5766840" cy="13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chemeClr val="dk1"/>
                </a:solidFill>
                <a:latin typeface="Calibri"/>
              </a:rPr>
              <a:t>UNIVERSIDADE FEDERAL DO PARANÁ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1300" spc="-1" strike="noStrike">
                <a:solidFill>
                  <a:schemeClr val="dk1"/>
                </a:solidFill>
                <a:latin typeface="Calibri"/>
              </a:rPr>
              <a:t>SETOR DE TECNOLOGIA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1300" spc="-1" strike="noStrike">
                <a:solidFill>
                  <a:schemeClr val="dk1"/>
                </a:solidFill>
                <a:latin typeface="Calibri"/>
              </a:rPr>
              <a:t>DEPARTAMENTO DE ENGENHARIA ELÉTRICA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Por que a impedância da PDN importa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a cadeia que liga o empilhamento à conformidade normativa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Picture 9" descr="p_cadeia.png"/>
          <p:cNvPicPr/>
          <p:nvPr/>
        </p:nvPicPr>
        <p:blipFill>
          <a:blip r:embed="rId2"/>
          <a:stretch/>
        </p:blipFill>
        <p:spPr>
          <a:xfrm>
            <a:off x="932760" y="2542320"/>
            <a:ext cx="10313640" cy="200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A curva que queremos prever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autoimpedância Z₁₁ de uma configuração real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Picture 9" descr="p_z11_anatomia.png"/>
          <p:cNvPicPr/>
          <p:nvPr/>
        </p:nvPicPr>
        <p:blipFill>
          <a:blip r:embed="rId2"/>
          <a:stretch/>
        </p:blipFill>
        <p:spPr>
          <a:xfrm>
            <a:off x="932760" y="1858680"/>
            <a:ext cx="10313640" cy="4146120"/>
          </a:xfrm>
          <a:prstGeom prst="rect">
            <a:avLst/>
          </a:prstGeom>
          <a:ln w="0">
            <a:noFill/>
          </a:ln>
        </p:spPr>
      </p:pic>
      <p:sp>
        <p:nvSpPr>
          <p:cNvPr id="56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Dois regimes separados pelo nulo de série: abaixo dele a PDN é um capacitor; acima, um indutor.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A base de dados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SI/PI-Database — Universidade Técnica de Hamburgo (TUHH)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9" descr="p_base.png"/>
          <p:cNvPicPr/>
          <p:nvPr/>
        </p:nvPicPr>
        <p:blipFill>
          <a:blip r:embed="rId2"/>
          <a:stretch/>
        </p:blipFill>
        <p:spPr>
          <a:xfrm>
            <a:off x="932760" y="2123640"/>
            <a:ext cx="10313640" cy="2930040"/>
          </a:xfrm>
          <a:prstGeom prst="rect">
            <a:avLst/>
          </a:prstGeom>
          <a:ln w="0">
            <a:noFill/>
          </a:ln>
        </p:spPr>
      </p:pic>
      <p:sp>
        <p:nvSpPr>
          <p:cNvPr id="59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Acesso público mediante aceite dos termos de uso. Schierholz et al., IEEE Access, v. 9, p. 34423–34432, 2021.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A — 6 camadas, dois arranjos de vias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geometria do problema e nomes dos parâmetros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9" descr="fig_6l_top.png"/>
          <p:cNvPicPr/>
          <p:nvPr/>
        </p:nvPicPr>
        <p:blipFill>
          <a:blip r:embed="rId2"/>
          <a:stretch/>
        </p:blipFill>
        <p:spPr>
          <a:xfrm>
            <a:off x="932760" y="2435400"/>
            <a:ext cx="4996440" cy="285480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10" descr="fig_6l_side.png"/>
          <p:cNvPicPr/>
          <p:nvPr/>
        </p:nvPicPr>
        <p:blipFill>
          <a:blip r:embed="rId3"/>
          <a:stretch/>
        </p:blipFill>
        <p:spPr>
          <a:xfrm>
            <a:off x="6249960" y="2498040"/>
            <a:ext cx="4996440" cy="2729520"/>
          </a:xfrm>
          <a:prstGeom prst="rect">
            <a:avLst/>
          </a:prstGeom>
          <a:ln w="0">
            <a:noFill/>
          </a:ln>
        </p:spPr>
      </p:pic>
      <p:sp>
        <p:nvSpPr>
          <p:cNvPr id="63" name="TextBox 11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Fonte: folha de dados do subconjunto, TUHH, 6 mar. 2023. TDIEL é a altura de uma cavidade; o empilhamento tem cinco.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A — os 8 parâmetros que variam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985 configurações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9" descr="p_params_8.png"/>
          <p:cNvPicPr/>
          <p:nvPr/>
        </p:nvPicPr>
        <p:blipFill>
          <a:blip r:embed="rId2"/>
          <a:stretch/>
        </p:blipFill>
        <p:spPr>
          <a:xfrm>
            <a:off x="932760" y="2038320"/>
            <a:ext cx="10313640" cy="378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A — os 9 parâmetros fixos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toda conclusão do trabalho fica condicionada a estes valores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9" descr="t_fixos.png"/>
          <p:cNvPicPr/>
          <p:nvPr/>
        </p:nvPicPr>
        <p:blipFill>
          <a:blip r:embed="rId2"/>
          <a:stretch/>
        </p:blipFill>
        <p:spPr>
          <a:xfrm>
            <a:off x="932760" y="2227320"/>
            <a:ext cx="10313640" cy="3225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Cobertura do espaço de projeto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Latin Hypercube Sampling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Picture 9" descr="p_lhs.png"/>
          <p:cNvPicPr/>
          <p:nvPr/>
        </p:nvPicPr>
        <p:blipFill>
          <a:blip r:embed="rId2"/>
          <a:stretch/>
        </p:blipFill>
        <p:spPr>
          <a:xfrm>
            <a:off x="2799720" y="1691640"/>
            <a:ext cx="6579360" cy="4525560"/>
          </a:xfrm>
          <a:prstGeom prst="rect">
            <a:avLst/>
          </a:prstGeom>
          <a:ln w="0">
            <a:noFill/>
          </a:ln>
        </p:spPr>
      </p:pic>
      <p:sp>
        <p:nvSpPr>
          <p:cNvPr id="70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Sem aglomerados e sem lacunas: as 985 configurações cobrem o espaço de forma uniforme.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Como a geometria muda a impedância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dez configurações ordenadas por altura de cavidade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9" descr="p_curvas10.png"/>
          <p:cNvPicPr/>
          <p:nvPr/>
        </p:nvPicPr>
        <p:blipFill>
          <a:blip r:embed="rId2"/>
          <a:stretch/>
        </p:blipFill>
        <p:spPr>
          <a:xfrm>
            <a:off x="1037880" y="1691640"/>
            <a:ext cx="10103400" cy="4479840"/>
          </a:xfrm>
          <a:prstGeom prst="rect">
            <a:avLst/>
          </a:prstGeom>
          <a:ln w="0">
            <a:noFill/>
          </a:ln>
        </p:spPr>
      </p:pic>
      <p:sp>
        <p:nvSpPr>
          <p:cNvPr id="73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|Z| varia por um fator de 14 entre configurações — há variação suficiente para o modelo aprender.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B — 1 cavidade, arranjo 11×11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placa de 12 × 10 polegadas, porta central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Picture 9" descr="fig_1c_geom.png"/>
          <p:cNvPicPr/>
          <p:nvPr/>
        </p:nvPicPr>
        <p:blipFill>
          <a:blip r:embed="rId2"/>
          <a:stretch/>
        </p:blipFill>
        <p:spPr>
          <a:xfrm>
            <a:off x="3070440" y="1691640"/>
            <a:ext cx="6038280" cy="4434120"/>
          </a:xfrm>
          <a:prstGeom prst="rect">
            <a:avLst/>
          </a:prstGeom>
          <a:ln w="0">
            <a:noFill/>
          </a:ln>
        </p:spPr>
      </p:pic>
      <p:sp>
        <p:nvSpPr>
          <p:cNvPr id="76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Fonte: folha de dados do subconjunto, TUHH, 22 nov. 2023. Atenção: a numeração das portas mudou entre lançamentos.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B — modelo de via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raio da via, antipad e pads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9" descr="fig_1c_via.png"/>
          <p:cNvPicPr/>
          <p:nvPr/>
        </p:nvPicPr>
        <p:blipFill>
          <a:blip r:embed="rId2"/>
          <a:stretch/>
        </p:blipFill>
        <p:spPr>
          <a:xfrm>
            <a:off x="2502360" y="1737360"/>
            <a:ext cx="7174440" cy="4388400"/>
          </a:xfrm>
          <a:prstGeom prst="rect">
            <a:avLst/>
          </a:prstGeom>
          <a:ln w="0">
            <a:noFill/>
          </a:ln>
        </p:spPr>
      </p:pic>
      <p:sp>
        <p:nvSpPr>
          <p:cNvPr id="79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Neste subconjunto a geometria da via é fixa: raio 5 mil, antipad 18 mil, passo 40 mil.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Subconjunto B — o que varia são os decaps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36 199 configurações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9" descr="p_decaps.png"/>
          <p:cNvPicPr/>
          <p:nvPr/>
        </p:nvPicPr>
        <p:blipFill>
          <a:blip r:embed="rId2"/>
          <a:stretch/>
        </p:blipFill>
        <p:spPr>
          <a:xfrm>
            <a:off x="932760" y="2235600"/>
            <a:ext cx="10313640" cy="3300480"/>
          </a:xfrm>
          <a:prstGeom prst="rect">
            <a:avLst/>
          </a:prstGeom>
          <a:ln w="0">
            <a:noFill/>
          </a:ln>
        </p:spPr>
      </p:pic>
      <p:sp>
        <p:nvSpPr>
          <p:cNvPr id="82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O banco de capacitores responde por 78 % da capacitância total — é física do alvo, não ruído.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Os dois subconjuntos lado a lado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diferem em mais dimensões do que a proposta previa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9" descr="t_comparacao.png"/>
          <p:cNvPicPr/>
          <p:nvPr/>
        </p:nvPicPr>
        <p:blipFill>
          <a:blip r:embed="rId2"/>
          <a:stretch/>
        </p:blipFill>
        <p:spPr>
          <a:xfrm>
            <a:off x="932760" y="1889640"/>
            <a:ext cx="10313640" cy="412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Qual parâmetro governa cada faixa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correlação de Spearman, 8 parâmetros × 334 frequências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9" descr="p_sensib.png"/>
          <p:cNvPicPr/>
          <p:nvPr/>
        </p:nvPicPr>
        <p:blipFill>
          <a:blip r:embed="rId2"/>
          <a:stretch/>
        </p:blipFill>
        <p:spPr>
          <a:xfrm>
            <a:off x="932760" y="1945440"/>
            <a:ext cx="10313640" cy="3926880"/>
          </a:xfrm>
          <a:prstGeom prst="rect">
            <a:avLst/>
          </a:prstGeom>
          <a:ln w="0">
            <a:noFill/>
          </a:ln>
        </p:spPr>
      </p:pic>
      <p:sp>
        <p:nvSpPr>
          <p:cNvPr id="87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TDIEL domina toda a banda. Os demais atuam em faixas específicas.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A troca de regime no nulo de série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a permissividade deixa de importar acima do nulo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Picture 9" descr="p_regime.png"/>
          <p:cNvPicPr/>
          <p:nvPr/>
        </p:nvPicPr>
        <p:blipFill>
          <a:blip r:embed="rId2"/>
          <a:stretch/>
        </p:blipFill>
        <p:spPr>
          <a:xfrm>
            <a:off x="932760" y="1945080"/>
            <a:ext cx="10313640" cy="397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Ranking de sensibilidade medido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sobre as 985 configurações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9" descr="p_ranking.png"/>
          <p:cNvPicPr/>
          <p:nvPr/>
        </p:nvPicPr>
        <p:blipFill>
          <a:blip r:embed="rId2"/>
          <a:stretch/>
        </p:blipFill>
        <p:spPr>
          <a:xfrm>
            <a:off x="932760" y="1895040"/>
            <a:ext cx="10313640" cy="411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A referência publicada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Fig. 11 de Schierholz, Hassab e Schuster (2023) — os dois parâmetros dominantes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9" descr="fig_eng11_gh.png"/>
          <p:cNvPicPr/>
          <p:nvPr/>
        </p:nvPicPr>
        <p:blipFill>
          <a:blip r:embed="rId2"/>
          <a:stretch/>
        </p:blipFill>
        <p:spPr>
          <a:xfrm>
            <a:off x="932760" y="2917800"/>
            <a:ext cx="10313640" cy="1935720"/>
          </a:xfrm>
          <a:prstGeom prst="rect">
            <a:avLst/>
          </a:prstGeom>
          <a:ln w="0">
            <a:noFill/>
          </a:ln>
        </p:spPr>
      </p:pic>
      <p:sp>
        <p:nvSpPr>
          <p:cNvPr id="94" name="TextBox 10"/>
          <p:cNvSpPr/>
          <p:nvPr/>
        </p:nvSpPr>
        <p:spPr>
          <a:xfrm>
            <a:off x="1755720" y="6245280"/>
            <a:ext cx="946332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IEEE Trans. on Components, Packaging and Manufacturing Technology, v. 13, n. 10, p. 1613–1623, out. 2023. É o artigo que projetou o subconjunto 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R1 — comportamento capacitivo confirmado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inclinação log-log abaixo do nulo de série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9" descr="p_r1.png"/>
          <p:cNvPicPr/>
          <p:nvPr/>
        </p:nvPicPr>
        <p:blipFill>
          <a:blip r:embed="rId2"/>
          <a:stretch/>
        </p:blipFill>
        <p:spPr>
          <a:xfrm>
            <a:off x="2774520" y="1691640"/>
            <a:ext cx="6630120" cy="4525560"/>
          </a:xfrm>
          <a:prstGeom prst="rect">
            <a:avLst/>
          </a:prstGeom>
          <a:ln w="0">
            <a:noFill/>
          </a:ln>
        </p:spPr>
      </p:pic>
      <p:sp>
        <p:nvSpPr>
          <p:cNvPr id="97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Verificado também no subconjunto de 1 cavidade: −1,0001 ± 0,0113. R1 transfere entre topologias.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A lei quase-estática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expoentes medidos contra os previstos pela física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9" descr="p_expoentes.png"/>
          <p:cNvPicPr/>
          <p:nvPr/>
        </p:nvPicPr>
        <p:blipFill>
          <a:blip r:embed="rId2"/>
          <a:stretch/>
        </p:blipFill>
        <p:spPr>
          <a:xfrm>
            <a:off x="966600" y="1691640"/>
            <a:ext cx="10245960" cy="4525560"/>
          </a:xfrm>
          <a:prstGeom prst="rect">
            <a:avLst/>
          </a:prstGeom>
          <a:ln w="0">
            <a:noFill/>
          </a:ln>
        </p:spPr>
      </p:pic>
      <p:sp>
        <p:nvSpPr>
          <p:cNvPr id="100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Restrita à população conforme, a lei de placas paralelas é recuperada com R² = 0,97.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R2 — dois terços seguem a lei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razão entre a capacitância medida e a analítica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9" descr="p_r2.png"/>
          <p:cNvPicPr/>
          <p:nvPr/>
        </p:nvPicPr>
        <p:blipFill>
          <a:blip r:embed="rId2"/>
          <a:stretch/>
        </p:blipFill>
        <p:spPr>
          <a:xfrm>
            <a:off x="932760" y="1798920"/>
            <a:ext cx="10313640" cy="4310640"/>
          </a:xfrm>
          <a:prstGeom prst="rect">
            <a:avLst/>
          </a:prstGeom>
          <a:ln w="0">
            <a:noFill/>
          </a:ln>
        </p:spPr>
      </p:pic>
      <p:sp>
        <p:nvSpPr>
          <p:cNvPr id="103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O fator 2 confirma a porta acoplada a duas cavidades em paralelo. Um terço desvia por causa ainda não identificada.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R2 não transfere entre topologias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mesma medida, dois subconjuntos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Picture 9" descr="p_r2_comp.png"/>
          <p:cNvPicPr/>
          <p:nvPr/>
        </p:nvPicPr>
        <p:blipFill>
          <a:blip r:embed="rId2"/>
          <a:stretch/>
        </p:blipFill>
        <p:spPr>
          <a:xfrm>
            <a:off x="1397880" y="1691640"/>
            <a:ext cx="9383400" cy="4525560"/>
          </a:xfrm>
          <a:prstGeom prst="rect">
            <a:avLst/>
          </a:prstGeom>
          <a:ln w="0">
            <a:noFill/>
          </a:ln>
        </p:spPr>
      </p:pic>
      <p:sp>
        <p:nvSpPr>
          <p:cNvPr id="106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Acima da fórmula em um, abaixo no outro. O termo de perda deve usar só a derivada logarítmica, que é invariante a escala.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O pipeline está validado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o banco de decaps é uma referência externa conhecida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9" descr="p_validacao.png"/>
          <p:cNvPicPr/>
          <p:nvPr/>
        </p:nvPicPr>
        <p:blipFill>
          <a:blip r:embed="rId2"/>
          <a:stretch/>
        </p:blipFill>
        <p:spPr>
          <a:xfrm>
            <a:off x="2467440" y="1691640"/>
            <a:ext cx="7244640" cy="4525560"/>
          </a:xfrm>
          <a:prstGeom prst="rect">
            <a:avLst/>
          </a:prstGeom>
          <a:ln w="0">
            <a:noFill/>
          </a:ln>
        </p:spPr>
      </p:pic>
      <p:sp>
        <p:nvSpPr>
          <p:cNvPr id="109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O coeficiente do banco de decaps é recuperado em 1,08 contra 1,00 esperado — valida leitura, conversão S→Z e extração.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Um erro de pipeline encontrado a tempo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pt-BR" sz="1500" spc="-1" strike="noStrike">
                <a:solidFill>
                  <a:srgbClr val="595959"/>
                </a:solidFill>
                <a:latin typeface="Calibri Light"/>
              </a:rPr>
              <a:t>a janela de medição fixa não transfere entre subconjuntos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9" descr="p_janela.png"/>
          <p:cNvPicPr/>
          <p:nvPr/>
        </p:nvPicPr>
        <p:blipFill>
          <a:blip r:embed="rId2"/>
          <a:stretch/>
        </p:blipFill>
        <p:spPr>
          <a:xfrm>
            <a:off x="932760" y="2276280"/>
            <a:ext cx="10313640" cy="3310560"/>
          </a:xfrm>
          <a:prstGeom prst="rect">
            <a:avLst/>
          </a:prstGeom>
          <a:ln w="0">
            <a:noFill/>
          </a:ln>
        </p:spPr>
      </p:pic>
      <p:sp>
        <p:nvSpPr>
          <p:cNvPr id="112" name="TextBox 10"/>
          <p:cNvSpPr/>
          <p:nvPr/>
        </p:nvSpPr>
        <p:spPr>
          <a:xfrm>
            <a:off x="1755720" y="6245280"/>
            <a:ext cx="94633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150" spc="-1" strike="noStrike">
                <a:solidFill>
                  <a:srgbClr val="595959"/>
                </a:solidFill>
                <a:latin typeface="Calibri"/>
              </a:rPr>
              <a:t>Os decaps empurram o nulo para dentro da janela antiga. A regra passa a ser adaptativa por configuração.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O que ficou validado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1188720" y="1874520"/>
            <a:ext cx="9691920" cy="21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✓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Pipeline correto de ponta a ponta, aferido contra referência externa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✓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R1 (forma capacitiva) vale em 100 % das configurações, nas duas topologias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✓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Dados alinhados: R² real 0,197 contra 0,002 com rótulos embaralhados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✓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Ranking de sensibilidade reproduz a ordem publicada nos dois primeiros lugares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✓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Tolerância de reciprocidade corrigida de 1e−6 para 1e−4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O que segue em aberto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1188720" y="1965960"/>
            <a:ext cx="9691920" cy="19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?  Um terço do subconjunto A desvia da escala de capacitância, sem causa identificada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✗  </a:t>
            </a: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Descartado: artefato de porta, desalinhamento global, permutação de linhas, dependência das features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?  R2 não transfere entre topologias — precisa de região de validade declarada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!  Confirmar com os mantenedores em Hamburgo o significado exato de TDIEL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60120" y="567000"/>
            <a:ext cx="10332000" cy="8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000" spc="-1" strike="noStrike">
                <a:solidFill>
                  <a:srgbClr val="1f4e79"/>
                </a:solidFill>
                <a:latin typeface="Calibri Light"/>
              </a:rPr>
              <a:t>Próximos passos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1188720" y="2011680"/>
            <a:ext cx="9691920" cy="169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1  Generalizar o carregador: adaptador por subconjunto, portas variáveis, grade comum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2  Janela quase-estática adaptativa em todo o pipeline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3  Reunir mais subconjuntos até o marco de novembro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500"/>
              </a:spcAft>
            </a:pPr>
            <a:r>
              <a:rPr b="0" lang="pt-BR" sz="1700" spc="-1" strike="noStrike">
                <a:solidFill>
                  <a:srgbClr val="595959"/>
                </a:solidFill>
                <a:latin typeface="Calibri"/>
              </a:rPr>
              <a:t>4  Modelos de referência sob protocolo único — GPR e rede neural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409760" y="1162080"/>
            <a:ext cx="925776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200" spc="-1" strike="noStrike">
                <a:solidFill>
                  <a:srgbClr val="1f4e79"/>
                </a:solidFill>
                <a:latin typeface="Calibri Light"/>
              </a:rPr>
              <a:t>Obrigado.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1500" spc="-1" strike="noStrike">
                <a:solidFill>
                  <a:srgbClr val="595959"/>
                </a:solidFill>
                <a:latin typeface="Calibri Light"/>
              </a:rPr>
              <a:t>Orientação: Prof. Dr. Leandro dos Santos Coelho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Application>LibreOffice/24.2.7.2$Linux_X86_64 LibreOffice_project/420$Build-2</Application>
  <AppVersion>15.0000</AppVersion>
  <Words>369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2017-02-16T13:32:25Z</dcterms:created>
  <dc:creator>Bureau 1</dc:creator>
  <dc:description/>
  <dc:language>en-US</dc:language>
  <cp:lastModifiedBy/>
  <dcterms:modified xsi:type="dcterms:W3CDTF">2026-09-03T20:23:47Z</dcterms:modified>
  <cp:revision>16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